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8" r:id="rId10"/>
    <p:sldId id="269" r:id="rId11"/>
    <p:sldId id="267" r:id="rId12"/>
    <p:sldId id="263" r:id="rId13"/>
    <p:sldId id="266" r:id="rId14"/>
    <p:sldId id="264" r:id="rId15"/>
  </p:sldIdLst>
  <p:sldSz cx="12192000" cy="6858000"/>
  <p:notesSz cx="6858000" cy="9144000"/>
  <p:embeddedFontLst>
    <p:embeddedFont>
      <p:font typeface="Urbanist" panose="020B0604020202020204" charset="0"/>
      <p:regular r:id="rId17"/>
      <p:bold r:id="rId18"/>
      <p:italic r:id="rId19"/>
      <p:boldItalic r:id="rId20"/>
    </p:embeddedFont>
    <p:embeddedFont>
      <p:font typeface="Urbanist Medium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A254BA34-DD74-3D86-4AF4-5179E4BB7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>
            <a:extLst>
              <a:ext uri="{FF2B5EF4-FFF2-40B4-BE49-F238E27FC236}">
                <a16:creationId xmlns:a16="http://schemas.microsoft.com/office/drawing/2014/main" id="{43DCAEE0-0518-7E47-0F20-EFB1D1769B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0:notes">
            <a:extLst>
              <a:ext uri="{FF2B5EF4-FFF2-40B4-BE49-F238E27FC236}">
                <a16:creationId xmlns:a16="http://schemas.microsoft.com/office/drawing/2014/main" id="{0F172AF0-9233-E0D4-08A2-B42FA2331E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384015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CC500AF5-7001-CFF2-B5ED-DF4475441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>
            <a:extLst>
              <a:ext uri="{FF2B5EF4-FFF2-40B4-BE49-F238E27FC236}">
                <a16:creationId xmlns:a16="http://schemas.microsoft.com/office/drawing/2014/main" id="{C434D292-0EDB-8293-FA80-2E1143F0E8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0:notes">
            <a:extLst>
              <a:ext uri="{FF2B5EF4-FFF2-40B4-BE49-F238E27FC236}">
                <a16:creationId xmlns:a16="http://schemas.microsoft.com/office/drawing/2014/main" id="{67A49536-5CFE-5868-7EB8-D6B88AE8BC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72780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2C285C90-66E6-04A2-212E-38724B215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>
            <a:extLst>
              <a:ext uri="{FF2B5EF4-FFF2-40B4-BE49-F238E27FC236}">
                <a16:creationId xmlns:a16="http://schemas.microsoft.com/office/drawing/2014/main" id="{B6BA4B0E-EC7E-1CF4-2E5A-E02AB09522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0:notes">
            <a:extLst>
              <a:ext uri="{FF2B5EF4-FFF2-40B4-BE49-F238E27FC236}">
                <a16:creationId xmlns:a16="http://schemas.microsoft.com/office/drawing/2014/main" id="{94746D4C-0FA4-74D5-496A-2C116BAA5C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9752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E32FA3B5-056F-7E1E-E927-FBD7D0678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>
            <a:extLst>
              <a:ext uri="{FF2B5EF4-FFF2-40B4-BE49-F238E27FC236}">
                <a16:creationId xmlns:a16="http://schemas.microsoft.com/office/drawing/2014/main" id="{18F4C383-93BF-A28B-FEAE-DCAA532042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0:notes">
            <a:extLst>
              <a:ext uri="{FF2B5EF4-FFF2-40B4-BE49-F238E27FC236}">
                <a16:creationId xmlns:a16="http://schemas.microsoft.com/office/drawing/2014/main" id="{B83143CE-D588-1FA3-F809-B5CB3CE3B1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21523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B6A70670-88D8-EAC6-42A0-839439C6F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>
            <a:extLst>
              <a:ext uri="{FF2B5EF4-FFF2-40B4-BE49-F238E27FC236}">
                <a16:creationId xmlns:a16="http://schemas.microsoft.com/office/drawing/2014/main" id="{832E1C93-FECF-6903-6665-E90A00303E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0:notes">
            <a:extLst>
              <a:ext uri="{FF2B5EF4-FFF2-40B4-BE49-F238E27FC236}">
                <a16:creationId xmlns:a16="http://schemas.microsoft.com/office/drawing/2014/main" id="{2CC96276-22AD-56B1-95AF-434BC05EF3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73368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21.png"/><Relationship Id="rId5" Type="http://schemas.openxmlformats.org/officeDocument/2006/relationships/image" Target="../media/image9.png"/><Relationship Id="rId10" Type="http://schemas.openxmlformats.org/officeDocument/2006/relationships/image" Target="../media/image20.png"/><Relationship Id="rId4" Type="http://schemas.openxmlformats.org/officeDocument/2006/relationships/image" Target="../media/image8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700450" y="2126902"/>
            <a:ext cx="8791098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Fast 4x4 Matrix </a:t>
            </a:r>
            <a:r>
              <a:rPr lang="en-US" sz="52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Accelerator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195762" y="3050827"/>
            <a:ext cx="3800475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ADE8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Integrated on a RISC-V SoC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567237" y="4273748"/>
            <a:ext cx="30575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64748B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By Sampath (USN: NNM23EC153)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05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1791592"/>
            <a:ext cx="52387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Standard CPUs struggle with heavy math like matrix multiplication, which is essential for AI and graphics.</a:t>
            </a:r>
            <a:endParaRPr/>
          </a:p>
        </p:txBody>
      </p:sp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00800" y="2116931"/>
            <a:ext cx="18192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52500" y="3106042"/>
            <a:ext cx="4857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 normal CPU executes instructions </a:t>
            </a: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one by one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sequentially.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52500" y="3966864"/>
            <a:ext cx="4857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To multiply a 4x4 matrix, the CPU must run a </a:t>
            </a: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triple nested loop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52500" y="4827686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That requires </a:t>
            </a:r>
            <a:r>
              <a:rPr lang="en-US" sz="1650" b="0" i="0" u="none" strike="noStrike" cap="non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64 separate math operations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52500" y="5353347"/>
            <a:ext cx="4857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Fetching and decoding these instructions wastes </a:t>
            </a: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over 100+ clock cycles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571500"/>
            <a:ext cx="1160145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Problem: </a:t>
            </a:r>
            <a:r>
              <a:rPr lang="en-US" sz="4125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Software is Slow</a:t>
            </a:r>
            <a:endParaRPr/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125092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985914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846736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372397"/>
            <a:ext cx="1143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1333500" y="2093118"/>
            <a:ext cx="9525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Instead of forcing the CPU to do the math step-by-step, we built a custom "math engine" directly onto the chip.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25400" y="3464718"/>
            <a:ext cx="49720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1" i="0" u="none" strike="noStrike" cap="non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100+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25400" y="4988718"/>
            <a:ext cx="49720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Cycles (Software Method)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25400" y="5455443"/>
            <a:ext cx="49720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Like 1 worker carrying 1 brick at a time.</a:t>
            </a:r>
            <a:endParaRPr/>
          </a:p>
        </p:txBody>
      </p:sp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05401" y="4393406"/>
            <a:ext cx="5048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7318176" y="3464718"/>
            <a:ext cx="40481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1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7318176" y="4988718"/>
            <a:ext cx="40481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Cycle (Hardware Method)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318176" y="5455443"/>
            <a:ext cx="4048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Like 16 workers carrying everything instantly.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571500"/>
            <a:ext cx="1160145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Our Solution: </a:t>
            </a:r>
            <a:r>
              <a:rPr lang="en-US" sz="4125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Hardware Acceleration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97881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" y="2116931"/>
            <a:ext cx="2209800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6381750" y="1819275"/>
            <a:ext cx="52387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We didn't invent a new computer. We upgraded an existing RISC-V system cleanly.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762750" y="2743200"/>
            <a:ext cx="4857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Brain: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The RISC-V CPU still runs the main C program.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762750" y="3604021"/>
            <a:ext cx="4857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Highway: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We used the standard AXI4-Lite bus to connect our module.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762750" y="4464843"/>
            <a:ext cx="4857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Swap: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We replaced an unused "counter" peripheral with our Matrix Accelerator.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762750" y="5325665"/>
            <a:ext cx="4857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Benefit: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We didn't have to change any core CPU wiring or invent custom assembly instructions.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571500" y="571500"/>
            <a:ext cx="1160145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How It Fits Together </a:t>
            </a:r>
            <a:r>
              <a:rPr lang="en-US" sz="4125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(The SoC)</a:t>
            </a:r>
            <a:endParaRPr/>
          </a:p>
        </p:txBody>
      </p:sp>
      <p:pic>
        <p:nvPicPr>
          <p:cNvPr id="132" name="Google Shape;13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2762250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3623071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4483893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5344715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title="Screenshot 2026-05-27 04212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9300" y="1258500"/>
            <a:ext cx="5743151" cy="5584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74181"/>
            <a:ext cx="3492400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974181"/>
            <a:ext cx="3492549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2974181"/>
            <a:ext cx="3492400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36700" y="3364706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1317575" y="4364831"/>
            <a:ext cx="20002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No Math Clocks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866775" y="4831556"/>
            <a:ext cx="29018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We don't use a clock to step through calculations. We use raw wires and direct logic gates.</a:t>
            </a:r>
            <a:endParaRPr/>
          </a:p>
        </p:txBody>
      </p:sp>
      <p:pic>
        <p:nvPicPr>
          <p:cNvPr id="148" name="Google Shape;14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4851" y="3364706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4830693" y="4364831"/>
            <a:ext cx="253031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Like Water in a Pipe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4644925" y="4831556"/>
            <a:ext cx="2901999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As soon as the matrices enter the inputs, electricity flows through 16 parallel multiply-add trees instantly.</a:t>
            </a:r>
            <a:endParaRPr/>
          </a:p>
        </p:txBody>
      </p:sp>
      <p:pic>
        <p:nvPicPr>
          <p:cNvPr id="151" name="Google Shape;151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493150" y="3364706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8914030" y="4364831"/>
            <a:ext cx="192024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1 Clock to Save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8423225" y="4831556"/>
            <a:ext cx="29018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only time we use a clock is when we hit the "START" button to save the final answer into a register.</a:t>
            </a:r>
            <a:endParaRPr/>
          </a:p>
        </p:txBody>
      </p:sp>
      <p:pic>
        <p:nvPicPr>
          <p:cNvPr id="154" name="Google Shape;154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170062" y="3579018"/>
            <a:ext cx="2952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910113" y="3579018"/>
            <a:ext cx="3714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726513" y="3579018"/>
            <a:ext cx="2952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571500" y="571500"/>
            <a:ext cx="1160145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How the Math </a:t>
            </a:r>
            <a:r>
              <a:rPr lang="en-US" sz="4125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Actually Works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571500" y="1719262"/>
            <a:ext cx="55816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secret to doing this in 1 cycle is </a:t>
            </a:r>
            <a:r>
              <a:rPr lang="en-US" sz="1800" b="0" i="0" u="none" strike="noStrike" cap="none">
                <a:solidFill>
                  <a:srgbClr val="4ADE8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Combinatorial Logic</a:t>
            </a:r>
            <a:r>
              <a:rPr lang="en-US" sz="1800" b="0" i="0" u="none" strike="noStrike" cap="non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571500" y="2236291"/>
            <a:ext cx="110490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Writing the C code to control this is a simple 5-step process: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2571750" y="3141166"/>
            <a:ext cx="78105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1. Pack: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Squash four 8-bit numbers into one 32-bit row.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2571750" y="3666827"/>
            <a:ext cx="78105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2. Load: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Send Matrix A and Matrix B to the hardware's memory addresses.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2571750" y="4192488"/>
            <a:ext cx="78105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3. Trigger: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Send a `1` to the START register.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2571750" y="4718149"/>
            <a:ext cx="78105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4. Wait: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Poll the DONE register (it finishes instantly).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2571750" y="5243810"/>
            <a:ext cx="78105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5. Read: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Pull the finished 16-bit answers back into the CPU.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571500" y="571500"/>
            <a:ext cx="1160145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How Software </a:t>
            </a:r>
            <a:r>
              <a:rPr lang="en-US" sz="4125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Talks to Hardware</a:t>
            </a:r>
            <a:endParaRPr/>
          </a:p>
        </p:txBody>
      </p:sp>
      <p:pic>
        <p:nvPicPr>
          <p:cNvPr id="171" name="Google Shape;17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90750" y="3160216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90750" y="3685877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90750" y="4211538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90750" y="4737199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90750" y="5262860"/>
            <a:ext cx="1143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26506"/>
            <a:ext cx="3492400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526506"/>
            <a:ext cx="3492549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2526506"/>
            <a:ext cx="3492400" cy="31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3929062" y="6069806"/>
            <a:ext cx="433387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Status: All 7 tests passed on hardware.</a:t>
            </a:r>
            <a:endParaRPr/>
          </a:p>
        </p:txBody>
      </p:sp>
      <p:pic>
        <p:nvPicPr>
          <p:cNvPr id="185" name="Google Shape;185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36700" y="2917031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1357580" y="3917156"/>
            <a:ext cx="192024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Identity &amp; Zero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866775" y="4383881"/>
            <a:ext cx="29018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Proved basic math rules work correctly in hardware (e.g., A * I = A).</a:t>
            </a:r>
            <a:endParaRPr/>
          </a:p>
        </p:txBody>
      </p:sp>
      <p:pic>
        <p:nvPicPr>
          <p:cNvPr id="188" name="Google Shape;188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4851" y="2917031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4865697" y="3917156"/>
            <a:ext cx="246030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Software Compare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4644925" y="4383881"/>
            <a:ext cx="2901999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Hardware answers perfectly matched the CPU's slow software answers.</a:t>
            </a:r>
            <a:endParaRPr/>
          </a:p>
        </p:txBody>
      </p:sp>
      <p:pic>
        <p:nvPicPr>
          <p:cNvPr id="191" name="Google Shape;191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493150" y="2917031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9184064" y="3917156"/>
            <a:ext cx="138017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Stress Test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8423225" y="4383881"/>
            <a:ext cx="29018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Fired the computation 10 times rapidly in a loop; hardware never glitched.</a:t>
            </a:r>
            <a:endParaRPr/>
          </a:p>
        </p:txBody>
      </p:sp>
      <p:pic>
        <p:nvPicPr>
          <p:cNvPr id="194" name="Google Shape;194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170062" y="3131343"/>
            <a:ext cx="2952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886301" y="3131343"/>
            <a:ext cx="4191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726513" y="3131343"/>
            <a:ext cx="2952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571500" y="273843"/>
            <a:ext cx="1160145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Proof it Works </a:t>
            </a:r>
            <a:r>
              <a:rPr lang="en-US" sz="4125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(Verification)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571500" y="1421606"/>
            <a:ext cx="79152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We ran 7 strict tests on the real FPGA (Boolean Board) to ensure 100% accuracy.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2">
          <a:extLst>
            <a:ext uri="{FF2B5EF4-FFF2-40B4-BE49-F238E27FC236}">
              <a16:creationId xmlns:a16="http://schemas.microsoft.com/office/drawing/2014/main" id="{93A66C03-E6EB-7FDD-ED3D-3DDAF9CBF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">
            <a:extLst>
              <a:ext uri="{FF2B5EF4-FFF2-40B4-BE49-F238E27FC236}">
                <a16:creationId xmlns:a16="http://schemas.microsoft.com/office/drawing/2014/main" id="{32DAF188-08F2-75EE-8907-8E48BD4BD8E3}"/>
              </a:ext>
            </a:extLst>
          </p:cNvPr>
          <p:cNvSpPr txBox="1"/>
          <p:nvPr/>
        </p:nvSpPr>
        <p:spPr>
          <a:xfrm>
            <a:off x="4476750" y="3386137"/>
            <a:ext cx="43338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75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319378-76BE-4E33-8DB5-3A2DE07F5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025" y="1280161"/>
            <a:ext cx="9505950" cy="379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642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2">
          <a:extLst>
            <a:ext uri="{FF2B5EF4-FFF2-40B4-BE49-F238E27FC236}">
              <a16:creationId xmlns:a16="http://schemas.microsoft.com/office/drawing/2014/main" id="{B183E3AA-222E-A00F-93F8-26A5ED869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">
            <a:extLst>
              <a:ext uri="{FF2B5EF4-FFF2-40B4-BE49-F238E27FC236}">
                <a16:creationId xmlns:a16="http://schemas.microsoft.com/office/drawing/2014/main" id="{BC43409B-4C26-5FC3-33FE-274BACADA4A7}"/>
              </a:ext>
            </a:extLst>
          </p:cNvPr>
          <p:cNvSpPr txBox="1"/>
          <p:nvPr/>
        </p:nvSpPr>
        <p:spPr>
          <a:xfrm>
            <a:off x="4476750" y="3386137"/>
            <a:ext cx="43338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75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F65678-536C-0AB6-B6E2-0740B51A1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309" y="206123"/>
            <a:ext cx="9183382" cy="32228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E51047-C2A7-DEF4-619A-6DCD7F2A66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4309" y="3461137"/>
            <a:ext cx="9082411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663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2">
          <a:extLst>
            <a:ext uri="{FF2B5EF4-FFF2-40B4-BE49-F238E27FC236}">
              <a16:creationId xmlns:a16="http://schemas.microsoft.com/office/drawing/2014/main" id="{A77A62A1-917A-C34A-B521-65D835E2B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">
            <a:extLst>
              <a:ext uri="{FF2B5EF4-FFF2-40B4-BE49-F238E27FC236}">
                <a16:creationId xmlns:a16="http://schemas.microsoft.com/office/drawing/2014/main" id="{613853BD-BBBF-6AF3-385A-F368858B1F4D}"/>
              </a:ext>
            </a:extLst>
          </p:cNvPr>
          <p:cNvSpPr txBox="1"/>
          <p:nvPr/>
        </p:nvSpPr>
        <p:spPr>
          <a:xfrm>
            <a:off x="4476750" y="3386137"/>
            <a:ext cx="43338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75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C29C4C-D628-1A69-886A-240A6D621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5902" y="194105"/>
            <a:ext cx="6554115" cy="29341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7E4EB7-FF77-1B94-AC03-7AAF5D1FFB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2927" y="3352234"/>
            <a:ext cx="7440063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136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2">
          <a:extLst>
            <a:ext uri="{FF2B5EF4-FFF2-40B4-BE49-F238E27FC236}">
              <a16:creationId xmlns:a16="http://schemas.microsoft.com/office/drawing/2014/main" id="{8973008C-8461-4F79-9711-9C79351A6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">
            <a:extLst>
              <a:ext uri="{FF2B5EF4-FFF2-40B4-BE49-F238E27FC236}">
                <a16:creationId xmlns:a16="http://schemas.microsoft.com/office/drawing/2014/main" id="{611CF81A-8F2E-AD51-2FA1-5344EE9AEB13}"/>
              </a:ext>
            </a:extLst>
          </p:cNvPr>
          <p:cNvSpPr txBox="1"/>
          <p:nvPr/>
        </p:nvSpPr>
        <p:spPr>
          <a:xfrm>
            <a:off x="4476750" y="3386137"/>
            <a:ext cx="43338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75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204" name="Google Shape;204;p20">
            <a:extLst>
              <a:ext uri="{FF2B5EF4-FFF2-40B4-BE49-F238E27FC236}">
                <a16:creationId xmlns:a16="http://schemas.microsoft.com/office/drawing/2014/main" id="{E39393B5-7E5D-0E8F-E83D-08399E2E0640}"/>
              </a:ext>
            </a:extLst>
          </p:cNvPr>
          <p:cNvSpPr txBox="1"/>
          <p:nvPr/>
        </p:nvSpPr>
        <p:spPr>
          <a:xfrm>
            <a:off x="571500" y="571500"/>
            <a:ext cx="11601600" cy="6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OUTPUT</a:t>
            </a:r>
            <a:endParaRPr/>
          </a:p>
        </p:txBody>
      </p:sp>
      <p:pic>
        <p:nvPicPr>
          <p:cNvPr id="205" name="Google Shape;205;p20" title="Screenshot 2026-05-25 114605.png">
            <a:extLst>
              <a:ext uri="{FF2B5EF4-FFF2-40B4-BE49-F238E27FC236}">
                <a16:creationId xmlns:a16="http://schemas.microsoft.com/office/drawing/2014/main" id="{F39A5AE0-2B6A-6D64-7384-C4735CA6D04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6560" y="3603575"/>
            <a:ext cx="7061200" cy="301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 title="Screenshot 2026-05-25 114538.png">
            <a:extLst>
              <a:ext uri="{FF2B5EF4-FFF2-40B4-BE49-F238E27FC236}">
                <a16:creationId xmlns:a16="http://schemas.microsoft.com/office/drawing/2014/main" id="{F1578C11-C949-C640-431D-B77E96A708C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5370" y="929654"/>
            <a:ext cx="7956559" cy="56909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54800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"/>
          <p:cNvSpPr txBox="1"/>
          <p:nvPr/>
        </p:nvSpPr>
        <p:spPr>
          <a:xfrm>
            <a:off x="4476750" y="3386137"/>
            <a:ext cx="43338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75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571500" y="571500"/>
            <a:ext cx="11601600" cy="6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OUTPUT</a:t>
            </a:r>
            <a:endParaRPr/>
          </a:p>
        </p:txBody>
      </p:sp>
      <p:pic>
        <p:nvPicPr>
          <p:cNvPr id="205" name="Google Shape;205;p20" title="Screenshot 2026-05-25 1146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0" y="284481"/>
            <a:ext cx="8239760" cy="6336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2">
          <a:extLst>
            <a:ext uri="{FF2B5EF4-FFF2-40B4-BE49-F238E27FC236}">
              <a16:creationId xmlns:a16="http://schemas.microsoft.com/office/drawing/2014/main" id="{97F8EDE6-3DB4-C799-E6A8-B34602239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">
            <a:extLst>
              <a:ext uri="{FF2B5EF4-FFF2-40B4-BE49-F238E27FC236}">
                <a16:creationId xmlns:a16="http://schemas.microsoft.com/office/drawing/2014/main" id="{A083AC19-9289-9557-9A34-B6C7B4C8D8A4}"/>
              </a:ext>
            </a:extLst>
          </p:cNvPr>
          <p:cNvSpPr txBox="1"/>
          <p:nvPr/>
        </p:nvSpPr>
        <p:spPr>
          <a:xfrm>
            <a:off x="4476750" y="3386137"/>
            <a:ext cx="43338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75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204" name="Google Shape;204;p20">
            <a:extLst>
              <a:ext uri="{FF2B5EF4-FFF2-40B4-BE49-F238E27FC236}">
                <a16:creationId xmlns:a16="http://schemas.microsoft.com/office/drawing/2014/main" id="{E725FB2A-6484-C52F-AED5-3E96B3B7FEFF}"/>
              </a:ext>
            </a:extLst>
          </p:cNvPr>
          <p:cNvSpPr txBox="1"/>
          <p:nvPr/>
        </p:nvSpPr>
        <p:spPr>
          <a:xfrm>
            <a:off x="571500" y="571500"/>
            <a:ext cx="11601600" cy="6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OUTPUT</a:t>
            </a:r>
            <a:endParaRPr/>
          </a:p>
        </p:txBody>
      </p:sp>
      <p:pic>
        <p:nvPicPr>
          <p:cNvPr id="205" name="Google Shape;205;p20" title="Screenshot 2026-05-25 114605.png">
            <a:extLst>
              <a:ext uri="{FF2B5EF4-FFF2-40B4-BE49-F238E27FC236}">
                <a16:creationId xmlns:a16="http://schemas.microsoft.com/office/drawing/2014/main" id="{BA79EB69-4183-3199-A43A-4D9258B3ACF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6560" y="3603575"/>
            <a:ext cx="7061200" cy="301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 title="Screenshot 2026-05-25 114538.png">
            <a:extLst>
              <a:ext uri="{FF2B5EF4-FFF2-40B4-BE49-F238E27FC236}">
                <a16:creationId xmlns:a16="http://schemas.microsoft.com/office/drawing/2014/main" id="{1FC14E3F-7A00-7AF9-101D-AC132F29526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4241" y="411925"/>
            <a:ext cx="7275838" cy="3124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title="Screenshot 2026-05-25 113735.png">
            <a:extLst>
              <a:ext uri="{FF2B5EF4-FFF2-40B4-BE49-F238E27FC236}">
                <a16:creationId xmlns:a16="http://schemas.microsoft.com/office/drawing/2014/main" id="{465AFF26-E049-B6B5-2926-0FCEAC1F87B8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22880" y="411925"/>
            <a:ext cx="9450220" cy="63298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37943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 txBox="1"/>
          <p:nvPr/>
        </p:nvSpPr>
        <p:spPr>
          <a:xfrm>
            <a:off x="3695700" y="1295400"/>
            <a:ext cx="4800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Conclusion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1809750" y="2914650"/>
            <a:ext cx="857250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This project proves that offloading specific tasks to hardware achieves a massive </a:t>
            </a:r>
            <a:r>
              <a:rPr lang="en-US" sz="2250" b="0" i="0" u="none" strike="noStrike" cap="none">
                <a:solidFill>
                  <a:srgbClr val="4ADE8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64x speedup</a:t>
            </a:r>
            <a:r>
              <a:rPr lang="en-US" sz="2250" b="0" i="0" u="none" strike="noStrike" cap="non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, showing how custom logic can seamlessly integrate into </a:t>
            </a:r>
            <a:r>
              <a:rPr lang="en-US" sz="2250" b="0" i="0" u="none" strike="noStrike" cap="non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Open-Source RISC-V</a:t>
            </a:r>
            <a:r>
              <a:rPr lang="en-US" sz="2250" b="0" i="0" u="none" strike="noStrike" cap="non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systems.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5148262" y="5105400"/>
            <a:ext cx="18954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524</Words>
  <Application>Microsoft Office PowerPoint</Application>
  <PresentationFormat>Widescreen</PresentationFormat>
  <Paragraphs>53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Urbanist Medium</vt:lpstr>
      <vt:lpstr>Calibri</vt:lpstr>
      <vt:lpstr>Urbanist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Sampath acharya</cp:lastModifiedBy>
  <cp:revision>1</cp:revision>
  <dcterms:modified xsi:type="dcterms:W3CDTF">2026-05-27T07:31:46Z</dcterms:modified>
</cp:coreProperties>
</file>